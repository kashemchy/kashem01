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1188720"/>
            <a:ext cx="1005840" cy="1005840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06440" y="1417320"/>
            <a:ext cx="548640" cy="548640"/>
          </a:xfrm>
          <a:prstGeom prst="ellipse">
            <a:avLst/>
          </a:prstGeom>
          <a:solidFill>
            <a:srgbClr val="FFD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4600" b="1" i="0">
                <a:solidFill>
                  <a:srgbClr val="FFF8E7"/>
                </a:solidFill>
                <a:latin typeface="Nirmala UI"/>
              </a:rPr>
              <a:t>MASTERING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2600" b="1" i="0">
                <a:solidFill>
                  <a:srgbClr val="F4B942"/>
                </a:solidFill>
                <a:latin typeface="Nirmala UI"/>
              </a:rPr>
              <a:t>From Zero to 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1800" b="0" i="0">
                <a:solidFill>
                  <a:srgbClr val="D9D3C2"/>
                </a:solidFill>
                <a:latin typeface="Nirmala UI"/>
              </a:rPr>
              <a:t>Live Class 05  •  Module 2, Class 2 of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1600" b="0" i="0">
                <a:solidFill>
                  <a:srgbClr val="5FADA0"/>
                </a:solidFill>
                <a:latin typeface="Nirmala UI"/>
              </a:rPr>
              <a:t>if এর ভেতরে if, Truthy/Falsy আর ডিবাগিং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আজকের লক্ষ্য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এই ক্লাসের পর আপনি যা যা পারবেন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একটা if এর ভেতরে আরেকটা if লিখতে পারবেন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বুঝবেন কখন Nested if লাগে, আর কখন শুধু and দিয়েই কাজ চলে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if name: এর মতো ছোট্ট করে শর্ত লিখতে পারবেন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কোড ভুল করলে print() বসিয়ে ভুলটা নিজে খুঁজে বের করতে পারবেন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চারটে সাধারণ ভুল চিনবেন, আর তাদের error message পড়তে পারবেন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02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ঝালাই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গত ক্লাসে যা শিখেছিলেন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if — শর্ত সত্যি হলে ভেতরের কাজটা করুন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else — শর্ত মিথ্যা হলে এই কাজটা করুন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elif — আগেরটা না মিললে এটা দেখুন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==  !=  &gt;  &lt;  &gt;=  &lt;=  — দুটো জিনিস মিলিয়ে দেখার চিহ্ন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and (দুটোই), or (যেকোনো একটা), not (উল্টে দিন)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03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ঝালাই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একটা if দিয়ে গরম হয়ে নিই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solidFill>
            <a:srgbClr val="17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8B90B5"/>
                </a:solidFill>
                <a:latin typeface="Consolas"/>
              </a:rPr>
              <a:t>examples/01_one_if.py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881360" cy="2249424"/>
          </a:xfrm>
          <a:prstGeom prst="rect">
            <a:avLst/>
          </a:prstGeom>
          <a:solidFill>
            <a:srgbClr val="0E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2066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rain = "yes"                    # we write the value ourselves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/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if rain == "yes":               # the question Python asks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print("Take an umbrella.")  # runs when the answer is yes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else: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print("No umbrella today.")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/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print("Now go outside.")        # outside the if, so it always runs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352544"/>
            <a:ext cx="10881360" cy="768096"/>
          </a:xfrm>
          <a:prstGeom prst="rect">
            <a:avLst/>
          </a:prstGeom>
          <a:solidFill>
            <a:srgbClr val="0A0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25696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5FADA0"/>
                </a:solidFill>
                <a:latin typeface="Consolas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99432"/>
            <a:ext cx="1033272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Take an umbrella.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Now go outside.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FFD97A"/>
                </a:solidFill>
                <a:latin typeface="Nirmala UI"/>
              </a:rPr>
              <a:t>শেষ লাইনটা কেন সবসময় আসে? কারণ ওটা if এর ভেতরে নয়, বাইরে — সামনে কোনো স্পেস নেই।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04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গল্প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11064240" cy="2651760"/>
          </a:xfrm>
          <a:prstGeom prst="rect">
            <a:avLst/>
          </a:prstGeom>
          <a:solidFill>
            <a:srgbClr val="1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3000" b="1" i="0">
                <a:solidFill>
                  <a:srgbClr val="F4B942"/>
                </a:solidFill>
                <a:latin typeface="Nirmala UI"/>
              </a:rPr>
              <a:t>চিড়িয়াখানার গেটম্যান দুটো প্রশ্ন করে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buNone/>
            </a:pPr>
            <a:r>
              <a:rPr sz="1700" b="0" i="0">
                <a:solidFill>
                  <a:srgbClr val="E7E9F7"/>
                </a:solidFill>
                <a:latin typeface="Nirmala UI"/>
              </a:rPr>
              <a:t>প্রথম প্রশ্ন: "টিকিট আছে?" — না থাকলে কথা এখানেই শেষ, ভেতরে ঢোকাই হবে না।</a:t>
            </a:r>
          </a:p>
          <a:p>
            <a:pPr algn="ctr" marL="0" indent="0">
              <a:buNone/>
            </a:pPr>
            <a:r>
              <a:rPr sz="1700" b="0" i="0">
                <a:solidFill>
                  <a:srgbClr val="E7E9F7"/>
                </a:solidFill>
                <a:latin typeface="Nirmala UI"/>
              </a:rPr>
              <a:t>টিকিট থাকলে তবেই দ্বিতীয় প্রশ্ন: "বয়স কত? ১০ এর কম হলে একটা বেলুন ফ্রি!"</a:t>
            </a:r>
          </a:p>
          <a:p>
            <a:pPr algn="ctr" marL="0" indent="0">
              <a:buNone/>
            </a:pPr>
            <a:r>
              <a:rPr sz="1700" b="0" i="0">
                <a:solidFill>
                  <a:srgbClr val="E7E9F7"/>
                </a:solidFill>
                <a:latin typeface="Nirmala UI"/>
              </a:rPr>
              <a:t>দ্বিতীয় প্রশ্নটা প্রথমটার উত্তরের উপর নির্ভর করে। এটাই Nested Condition।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05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সংজ্ঞা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Nested Condition — এক কথায়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একটা if বা else ব্লকের ভেতরে আরেকটা সম্পূর্ণ if-else বসানো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বাইরের শর্ত মিথ্যা হলে ভেতরের শর্ত Python একবারও পড়ে না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ভেতরের if বাইরের if থেকে আরও এক ধাপ (৪ স্পেস) বেশি ভেতরে থাকে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কত ধাপ পর্যন্ত করা যায়? — যত খুশি, তবে ২-৩ ধাপের বেশি হলে পড়া কঠিন হয়ে যায়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06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উদাহরণ ০২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গল্পটাই এবার কোডে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solidFill>
            <a:srgbClr val="17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8B90B5"/>
                </a:solidFill>
                <a:latin typeface="Consolas"/>
              </a:rPr>
              <a:t>examples/02_if_inside_if.py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881360" cy="2990088"/>
          </a:xfrm>
          <a:prstGeom prst="rect">
            <a:avLst/>
          </a:prstGeom>
          <a:solidFill>
            <a:srgbClr val="0E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2807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ticket = "yes"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age = 8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/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if ticket == "yes":                        # outer question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print("Ticket OK. Come in!")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if age &lt; 10:                           # inner question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    print("You get a free balloon!")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else: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    print("Enjoy the zoo!")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else: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print("Please buy a ticket first.")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093208"/>
            <a:ext cx="10881360" cy="768096"/>
          </a:xfrm>
          <a:prstGeom prst="rect">
            <a:avLst/>
          </a:prstGeom>
          <a:solidFill>
            <a:srgbClr val="0A0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5FADA0"/>
                </a:solidFill>
                <a:latin typeface="Consolas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0096"/>
            <a:ext cx="1033272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Ticket OK. Come in!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You get a free balloon!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07024"/>
            <a:ext cx="10881360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FFD97A"/>
                </a:solidFill>
                <a:latin typeface="Nirmala UI"/>
              </a:rPr>
              <a:t>ticket = "no" করে চালান — বেলুনের কথাটা আসবে না। বাইরের উত্তরই "না" ছিল, তাই ভেতরের প্রশ্নটা করাই হয়নি।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07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গঠন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সিঁড়ির মতো করে দেখুন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solidFill>
            <a:srgbClr val="17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8B90B5"/>
                </a:solidFill>
                <a:latin typeface="Consolas"/>
              </a:rPr>
              <a:t>nested if - the ladder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881360" cy="1888744"/>
          </a:xfrm>
          <a:prstGeom prst="rect">
            <a:avLst/>
          </a:prstGeom>
          <a:solidFill>
            <a:srgbClr val="0E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21992"/>
            <a:ext cx="10332720" cy="1651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E7E9F7"/>
                </a:solidFill>
                <a:latin typeface="Consolas"/>
              </a:rPr>
              <a:t>if  &lt;outer question&gt;:                 &lt;-- step 1</a:t>
            </a:r>
          </a:p>
          <a:p>
            <a:pPr algn="l" marL="0" indent="0">
              <a:buNone/>
            </a:pPr>
            <a:r>
              <a:rPr sz="1300" b="0" i="0">
                <a:solidFill>
                  <a:srgbClr val="E7E9F7"/>
                </a:solidFill>
                <a:latin typeface="Consolas"/>
              </a:rPr>
              <a:t>    runs when the outer answer is YES</a:t>
            </a:r>
          </a:p>
          <a:p>
            <a:pPr algn="l" marL="0" indent="0">
              <a:buNone/>
            </a:pPr>
            <a:r>
              <a:rPr sz="1300" b="0" i="0">
                <a:solidFill>
                  <a:srgbClr val="E7E9F7"/>
                </a:solidFill>
                <a:latin typeface="Consolas"/>
              </a:rPr>
              <a:t>    if  &lt;inner question&gt;:             &lt;-- step 2</a:t>
            </a:r>
          </a:p>
          <a:p>
            <a:pPr algn="l" marL="0" indent="0">
              <a:buNone/>
            </a:pPr>
            <a:r>
              <a:rPr sz="1300" b="0" i="0">
                <a:solidFill>
                  <a:srgbClr val="E7E9F7"/>
                </a:solidFill>
                <a:latin typeface="Consolas"/>
              </a:rPr>
              <a:t>        runs when BOTH answers are YES</a:t>
            </a:r>
          </a:p>
          <a:p>
            <a:pPr algn="l" marL="0" indent="0">
              <a:buNone/>
            </a:pPr>
            <a:r>
              <a:rPr sz="1300" b="0" i="0">
                <a:solidFill>
                  <a:srgbClr val="E7E9F7"/>
                </a:solidFill>
                <a:latin typeface="Consolas"/>
              </a:rPr>
              <a:t>    else:</a:t>
            </a:r>
          </a:p>
          <a:p>
            <a:pPr algn="l" marL="0" indent="0">
              <a:buNone/>
            </a:pPr>
            <a:r>
              <a:rPr sz="1300" b="0" i="0">
                <a:solidFill>
                  <a:srgbClr val="E7E9F7"/>
                </a:solidFill>
                <a:latin typeface="Consolas"/>
              </a:rPr>
              <a:t>        outer YES, inner NO</a:t>
            </a:r>
          </a:p>
          <a:p>
            <a:pPr algn="l" marL="0" indent="0">
              <a:buNone/>
            </a:pPr>
            <a:r>
              <a:rPr sz="1300" b="0" i="0">
                <a:solidFill>
                  <a:srgbClr val="E7E9F7"/>
                </a:solidFill>
                <a:latin typeface="Consolas"/>
              </a:rPr>
              <a:t>else:</a:t>
            </a:r>
          </a:p>
          <a:p>
            <a:pPr algn="l" marL="0" indent="0">
              <a:buNone/>
            </a:pPr>
            <a:r>
              <a:rPr sz="1300" b="0" i="0">
                <a:solidFill>
                  <a:srgbClr val="E7E9F7"/>
                </a:solidFill>
                <a:latin typeface="Consolas"/>
              </a:rPr>
              <a:t>    outer NO  -&gt;  Python never even reads the inner if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91864"/>
            <a:ext cx="10881360" cy="952500"/>
          </a:xfrm>
          <a:prstGeom prst="rect">
            <a:avLst/>
          </a:prstGeom>
          <a:solidFill>
            <a:srgbClr val="0A0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501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F4B942"/>
                </a:solidFill>
                <a:latin typeface="Consolas"/>
              </a:rPr>
              <a:t>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38752"/>
            <a:ext cx="10332720" cy="5684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প্রতি ধাপে ৪টা স্পেস। PyCharm বা VS Code এ Tab চাপলে ৪টা স্পেস নিজে থেকেই বসে যায়।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মনে রাখুন: বাইরের শর্ত মিথ্যা হলে ভেতরের লাইনগুলো Python ছুঁয়েও দেখে না।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08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উদাহরণ ০৩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স্পেস কয়টা — সেটাই সব ঠিক করে দেয়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solidFill>
            <a:srgbClr val="17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8B90B5"/>
                </a:solidFill>
                <a:latin typeface="Consolas"/>
              </a:rPr>
              <a:t>examples/03_indentation_matters.py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881360" cy="3236976"/>
          </a:xfrm>
          <a:prstGeom prst="rect">
            <a:avLst/>
          </a:prstGeom>
          <a:solidFill>
            <a:srgbClr val="0E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3054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age = 10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money = 500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print("--- Version 1: the second if is INSIDE the first one ---")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if age &gt;= 18: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print("You are an adult.")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if money &gt;= 100: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    print("You can buy the ticket.")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print("--- Version 2: the second if is OUTSIDE ---")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if age &gt;= 18: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print("You are an adult.")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if money &gt;= 100: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print("You can buy the ticket.")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340096"/>
            <a:ext cx="10881360" cy="1014984"/>
          </a:xfrm>
          <a:prstGeom prst="rect">
            <a:avLst/>
          </a:prstGeom>
          <a:solidFill>
            <a:srgbClr val="0A0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13248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5FADA0"/>
                </a:solidFill>
                <a:latin typeface="Consolas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86984"/>
            <a:ext cx="1033272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--- Version 1: the second if is INSIDE the first one ---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--- Version 2: the second if is OUTSIDE ---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You can buy the ticket.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09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তুলনা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একই লাইন, শুধু স্পেসের জায়গা আলাদা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8" y="1920240"/>
            <a:ext cx="5120640" cy="3931920"/>
          </a:xfrm>
          <a:prstGeom prst="rect">
            <a:avLst/>
          </a:prstGeom>
          <a:solidFill>
            <a:srgbClr val="1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0928" y="214884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900" b="1" i="0">
                <a:solidFill>
                  <a:srgbClr val="E2777F"/>
                </a:solidFill>
                <a:latin typeface="Nirmala UI"/>
              </a:rPr>
              <a:t>Version 1 — দ্বিতীয় if ভেতরে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928" y="283464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বয়স ১০, তাই বাইরের শর্ত মিথ্যা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Python ভেতরে ঢোকেই না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টাকার শর্তটা পড়াই হলো না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ফল: কিছুই ছাপা হলো না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4448" y="1920240"/>
            <a:ext cx="5120640" cy="3931920"/>
          </a:xfrm>
          <a:prstGeom prst="rect">
            <a:avLst/>
          </a:prstGeom>
          <a:solidFill>
            <a:srgbClr val="1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8" y="214884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900" b="1" i="0">
                <a:solidFill>
                  <a:srgbClr val="5FADA0"/>
                </a:solidFill>
                <a:latin typeface="Nirmala UI"/>
              </a:rPr>
              <a:t>Version 2 — দ্বিতীয় if বাইরে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8" y="283464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প্রথম if মিথ্যা, তাই সেটা বাদ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দ্বিতীয় if একদম আলাদা, নিজের মতো চলল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টাকা ৫০০, শর্ত সত্যি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ফল: টিকিটের লাইনটা ছাপা হলো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1400" b="0" i="0">
                <a:solidFill>
                  <a:srgbClr val="D9D3C2"/>
                </a:solidFill>
                <a:latin typeface="Nirmala UI"/>
              </a:rPr>
              <a:t>Python এ স্পেস শুধু সুন্দর দেখানোর জিনিস নয় — স্পেসই বলে দেয় কোন লাইন কার ভেতরে আছে।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কোনটা কখন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Nested if না-কি 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8" y="1920240"/>
            <a:ext cx="5120640" cy="3931920"/>
          </a:xfrm>
          <a:prstGeom prst="rect">
            <a:avLst/>
          </a:prstGeom>
          <a:solidFill>
            <a:srgbClr val="1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0928" y="214884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900" b="1" i="0">
                <a:solidFill>
                  <a:srgbClr val="F4B942"/>
                </a:solidFill>
                <a:latin typeface="Nirmala UI"/>
              </a:rPr>
              <a:t>and দিয়ে লিখুন যখন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928" y="283464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সব শর্ত মিলে একটামাত্র সিদ্ধান্ত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না মিললে সবার জন্য একই মেসেজ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যেমন: age &gt;= 18 and nid == "yes"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কোড ছোট, এক নজরে পড়া যায়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4448" y="1920240"/>
            <a:ext cx="5120640" cy="3931920"/>
          </a:xfrm>
          <a:prstGeom prst="rect">
            <a:avLst/>
          </a:prstGeom>
          <a:solidFill>
            <a:srgbClr val="1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8" y="214884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900" b="1" i="0">
                <a:solidFill>
                  <a:srgbClr val="5FADA0"/>
                </a:solidFill>
                <a:latin typeface="Nirmala UI"/>
              </a:rPr>
              <a:t>Nested if লিখুন যখন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8" y="283464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প্রতিটা শর্তের জন্য আলাদা মেসেজ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"বয়স হয়নি" আর "NID নেই" — আলাদা কারণ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দরকার হলে তবেই পরের ইনপুটটা নেবে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কী করতে হবে সেটা স্পষ্ট বলা যায়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1400" b="0" i="0">
                <a:solidFill>
                  <a:srgbClr val="D9D3C2"/>
                </a:solidFill>
                <a:latin typeface="Nirmala UI"/>
              </a:rPr>
              <a:t>দুটোই সঠিক। প্রশ্নটা শুধু এটুকু — ব্যবহারকারী কোন উত্তরটা পেলে বেশি উপকৃত হবে?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উদাহরণ ০৪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এবার input() দিয়ে — ভোট দেওয়ার যোগ্যতা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solidFill>
            <a:srgbClr val="17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8B90B5"/>
                </a:solidFill>
                <a:latin typeface="Consolas"/>
              </a:rPr>
              <a:t>examples/04_nested_voting.py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881360" cy="2743200"/>
          </a:xfrm>
          <a:prstGeom prst="rect">
            <a:avLst/>
          </a:prstGeom>
          <a:solidFill>
            <a:srgbClr val="0E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age = int(input("Enter your age: "))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/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if age &gt;= 18: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nid = input("Do you have an NID? (yes/no): 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if nid == "yes":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    print("You can vote!")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else: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    print("Get your NID first, then you can vote.")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else: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print("You are not 18 yet. Wait a few more years!")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846320"/>
            <a:ext cx="10881360" cy="1014984"/>
          </a:xfrm>
          <a:prstGeom prst="rect">
            <a:avLst/>
          </a:prstGeom>
          <a:solidFill>
            <a:srgbClr val="0A0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1947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5FADA0"/>
                </a:solidFill>
                <a:latin typeface="Consolas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93208"/>
            <a:ext cx="1033272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Enter your age: 20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Do you have an NID? (yes/no): yes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You can vote!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07024"/>
            <a:ext cx="10881360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FFD97A"/>
                </a:solidFill>
                <a:latin typeface="Nirmala UI"/>
              </a:rPr>
              <a:t>input() যা আনে সেটা সবসময় লেখা। তাই বয়সটা int() দিয়ে সংখ্যা বানিয়ে নিতে হয়েছে।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উদাহরণ ০৪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একই কোড, বাকি দুটো পথ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solidFill>
            <a:srgbClr val="17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8B90B5"/>
                </a:solidFill>
                <a:latin typeface="Consolas"/>
              </a:rPr>
              <a:t>examples/04_nested_voting.py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881360" cy="2249424"/>
          </a:xfrm>
          <a:prstGeom prst="rect">
            <a:avLst/>
          </a:prstGeom>
          <a:solidFill>
            <a:srgbClr val="0E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2066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if age &gt;= 18: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nid = input("Do you have an NID? (yes/no): 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if nid == "yes":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    print("You can vote!")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else: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    print("Get your NID first, then you can vote.")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else: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print("You are not 18 yet. Wait a few more years!")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352544"/>
            <a:ext cx="10881360" cy="1755648"/>
          </a:xfrm>
          <a:prstGeom prst="rect">
            <a:avLst/>
          </a:prstGeom>
          <a:solidFill>
            <a:srgbClr val="0A0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25696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5FADA0"/>
                </a:solidFill>
                <a:latin typeface="Consolas"/>
              </a:rPr>
              <a:t>OUTPUT (RUN 2, RUN 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99432"/>
            <a:ext cx="10332720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Enter your age: 20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Do you have an NID? (yes/no): no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Get your NID first, then you can vote.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/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Enter your age: 15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You are not 18 yet. Wait a few more years!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53912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FFD97A"/>
                </a:solidFill>
                <a:latin typeface="Nirmala UI"/>
              </a:rPr>
              <a:t>RUN 3 এ NID এর প্রশ্নটা আসেইনি — এটাই Nested if এর আসল সুবিধা।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গল্প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11064240" cy="2651760"/>
          </a:xfrm>
          <a:prstGeom prst="rect">
            <a:avLst/>
          </a:prstGeom>
          <a:solidFill>
            <a:srgbClr val="1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3000" b="1" i="0">
                <a:solidFill>
                  <a:srgbClr val="5FADA0"/>
                </a:solidFill>
                <a:latin typeface="Nirmala UI"/>
              </a:rPr>
              <a:t>টিফিন বাক্স ঝাঁকিয়ে দেখুন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buNone/>
            </a:pPr>
            <a:r>
              <a:rPr sz="1700" b="0" i="0">
                <a:solidFill>
                  <a:srgbClr val="E7E9F7"/>
                </a:solidFill>
                <a:latin typeface="Nirmala UI"/>
              </a:rPr>
              <a:t>শব্দ না হলে বুঝে যান বাক্সটা খালি। Python ও ঠিক এভাবেই ভাবে।</a:t>
            </a:r>
          </a:p>
          <a:p>
            <a:pPr algn="ctr" marL="0" indent="0">
              <a:buNone/>
            </a:pPr>
            <a:r>
              <a:rPr sz="1700" b="0" i="0">
                <a:solidFill>
                  <a:srgbClr val="E7E9F7"/>
                </a:solidFill>
                <a:latin typeface="Nirmala UI"/>
              </a:rPr>
              <a:t>খালি জিনিস মানে "না"  →  একে বলে Falsy</a:t>
            </a:r>
          </a:p>
          <a:p>
            <a:pPr algn="ctr" marL="0" indent="0">
              <a:buNone/>
            </a:pPr>
            <a:r>
              <a:rPr sz="1700" b="0" i="0">
                <a:solidFill>
                  <a:srgbClr val="E7E9F7"/>
                </a:solidFill>
                <a:latin typeface="Nirmala UI"/>
              </a:rPr>
              <a:t>ভেতরে কিছু আছে মানে "হ্যাঁ"  →  একে বলে Truthy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তালিকা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মুখস্থ নয় — বুঝে নিন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8" y="1920240"/>
            <a:ext cx="5120640" cy="3931920"/>
          </a:xfrm>
          <a:prstGeom prst="rect">
            <a:avLst/>
          </a:prstGeom>
          <a:solidFill>
            <a:srgbClr val="1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0928" y="214884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900" b="1" i="0">
                <a:solidFill>
                  <a:srgbClr val="E2777F"/>
                </a:solidFill>
                <a:latin typeface="Nirmala UI"/>
              </a:rPr>
              <a:t>Falsy — Python এর কাছে মিথ্যা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928" y="283464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0  —  শূন্য মানে কিছু নেই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0.0  —  দশমিকেও শূন্য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""  —  খালি লেখা, একটাও অক্ষর নেই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False  —  এ তো মিথ্যাই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None  —  মানে "কিছুই না"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4448" y="1920240"/>
            <a:ext cx="5120640" cy="3931920"/>
          </a:xfrm>
          <a:prstGeom prst="rect">
            <a:avLst/>
          </a:prstGeom>
          <a:solidFill>
            <a:srgbClr val="1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8" y="214884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900" b="1" i="0">
                <a:solidFill>
                  <a:srgbClr val="5FADA0"/>
                </a:solidFill>
                <a:latin typeface="Nirmala UI"/>
              </a:rPr>
              <a:t>Truthy — Python এর কাছে সত্যি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8" y="283464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উপরের পাঁচটা ছাড়া বাকি প্রায় সবকিছু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যেকোনো শূন্য-নয় সংখ্যা — 7, -3, 3.14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অক্ষরওয়ালা যেকোনো লেখা — "hi", "Rafi"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মোট কথা — খালি না হলেই Truthy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উদাহরণ ০৫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নিজের চোখে দেখে নিন — Falsy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solidFill>
            <a:srgbClr val="17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8B90B5"/>
                </a:solidFill>
                <a:latin typeface="Consolas"/>
              </a:rPr>
              <a:t>examples/05_truthy_falsy.py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881360" cy="1508760"/>
          </a:xfrm>
          <a:prstGeom prst="rect">
            <a:avLst/>
          </a:prstGeom>
          <a:solidFill>
            <a:srgbClr val="0E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print("--- FALSY: Python reads these as False ---")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print("bool(0)      =", bool(0))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print("bool(0.0)    =", bool(0.0))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print('bool("")     =', bool(""))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print("bool(None)   =", bool(None))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11880"/>
            <a:ext cx="10881360" cy="1508760"/>
          </a:xfrm>
          <a:prstGeom prst="rect">
            <a:avLst/>
          </a:prstGeom>
          <a:solidFill>
            <a:srgbClr val="0A0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8503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5FADA0"/>
                </a:solidFill>
                <a:latin typeface="Consolas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58768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--- FALSY: Python reads these as False ---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bool(0)      = False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bool(0.0)    = False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bool("")     = False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bool(None)   = False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FFD97A"/>
                </a:solidFill>
                <a:latin typeface="Nirmala UI"/>
              </a:rPr>
              <a:t>bool() নামের ছোট্ট একটা টুল যেকোনো জিনিসকে True না False — সেটা বলে দেয়।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উদাহরণ ০৫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নিজের চোখে দেখে নিন — Truthy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solidFill>
            <a:srgbClr val="17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8B90B5"/>
                </a:solidFill>
                <a:latin typeface="Consolas"/>
              </a:rPr>
              <a:t>examples/05_truthy_falsy.py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881360" cy="1508760"/>
          </a:xfrm>
          <a:prstGeom prst="rect">
            <a:avLst/>
          </a:prstGeom>
          <a:solidFill>
            <a:srgbClr val="0E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print("--- TRUTHY: Python reads these as True ---")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print("bool(7)      =", bool(7))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print("bool(-3)     =", bool(-3))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print('bool("hi")   =', bool("hi"))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print('bool("0")    =', bool("0"))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11880"/>
            <a:ext cx="10881360" cy="1508760"/>
          </a:xfrm>
          <a:prstGeom prst="rect">
            <a:avLst/>
          </a:prstGeom>
          <a:solidFill>
            <a:srgbClr val="0A0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8503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5FADA0"/>
                </a:solidFill>
                <a:latin typeface="Consolas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58768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--- TRUTHY: Python reads these as True ---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bool(7)      = True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bool(-3)     = True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bool("hi")   = True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bool("0")    =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FFD97A"/>
                </a:solidFill>
                <a:latin typeface="Nirmala UI"/>
              </a:rPr>
              <a:t>সবার শেষের লাইনটা সবচেয়ে মজার। পরের স্লাইডে দেখুন কেন।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মজার প্রশ্ন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11064240" cy="2651760"/>
          </a:xfrm>
          <a:prstGeom prst="rect">
            <a:avLst/>
          </a:prstGeom>
          <a:solidFill>
            <a:srgbClr val="1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3000" b="1" i="0">
                <a:solidFill>
                  <a:srgbClr val="F4B942"/>
                </a:solidFill>
                <a:latin typeface="Nirmala UI"/>
              </a:rPr>
              <a:t>bool("0") কেন True?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buNone/>
            </a:pPr>
            <a:r>
              <a:rPr sz="1700" b="0" i="0">
                <a:solidFill>
                  <a:srgbClr val="E7E9F7"/>
                </a:solidFill>
                <a:latin typeface="Nirmala UI"/>
              </a:rPr>
              <a:t>"0" এর দুই পাশে কোটেশন চিহ্ন আছে — তাই এটা সংখ্যা শূন্য নয়, এটা একটা লেখা।</a:t>
            </a:r>
          </a:p>
          <a:p>
            <a:pPr algn="ctr" marL="0" indent="0">
              <a:buNone/>
            </a:pPr>
            <a:r>
              <a:rPr sz="1700" b="0" i="0">
                <a:solidFill>
                  <a:srgbClr val="E7E9F7"/>
                </a:solidFill>
                <a:latin typeface="Nirmala UI"/>
              </a:rPr>
              <a:t>আর লেখাটা খালি নয়, ভেতরে একটা অক্ষর আছে। তাই এটা Truthy।</a:t>
            </a:r>
          </a:p>
          <a:p>
            <a:pPr algn="ctr" marL="0" indent="0">
              <a:buNone/>
            </a:pPr>
            <a:r>
              <a:rPr sz="1700" b="0" i="0">
                <a:solidFill>
                  <a:srgbClr val="E7E9F7"/>
                </a:solidFill>
                <a:latin typeface="Nirmala UI"/>
              </a:rPr>
              <a:t>ছড়া: শূন্য খালি, লেখা খালি, None ও খালি — সব মিথ্যা। বাকি সবাই সত্যি।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উদাহরণ ০৬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এবার কাজে লাগাই — if name: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solidFill>
            <a:srgbClr val="17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8B90B5"/>
                </a:solidFill>
                <a:latin typeface="Consolas"/>
              </a:rPr>
              <a:t>examples/06_empty_name.py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881360" cy="1755648"/>
          </a:xfrm>
          <a:prstGeom prst="rect">
            <a:avLst/>
          </a:prstGeom>
          <a:solidFill>
            <a:srgbClr val="0E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name = input("What is your name? 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/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if name: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print("Hello,", name)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else: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print("You did not write anything!")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58768"/>
            <a:ext cx="10881360" cy="1508760"/>
          </a:xfrm>
          <a:prstGeom prst="rect">
            <a:avLst/>
          </a:prstGeom>
          <a:solidFill>
            <a:srgbClr val="0A0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5FADA0"/>
                </a:solidFill>
                <a:latin typeface="Consolas"/>
              </a:rPr>
              <a:t>OUTPUT (RUN 1, RUN 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05656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What is your name? Rafi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Hello, Rafi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/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What is your name?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You did not write anything!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13248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FFD97A"/>
                </a:solidFill>
                <a:latin typeface="Nirmala UI"/>
              </a:rPr>
              <a:t>আগে লিখতে হতো if name != "": — এখন শুধু if name: লিখলেই হবে। মানে একই, পড়তে সহজ।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FFD97A"/>
                </a:solidFill>
                <a:latin typeface="Nirmala UI"/>
              </a:rPr>
              <a:t>RUN 2 এ কিছু না লিখেই Enter চাপা হয়েছে, তাই name এর ভেতরে ছিল "" — খালি লেখা, অর্থাৎ Falsy।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উদাহরণ ০৭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দুটো শেখা একসাথে — ছোট্ট একটা Login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solidFill>
            <a:srgbClr val="17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8B90B5"/>
                </a:solidFill>
                <a:latin typeface="Consolas"/>
              </a:rPr>
              <a:t>examples/07_login.py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881360" cy="2743200"/>
          </a:xfrm>
          <a:prstGeom prst="rect">
            <a:avLst/>
          </a:prstGeom>
          <a:solidFill>
            <a:srgbClr val="0E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username = input("Username: 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/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if username: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password = input("Password: 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if password == "1234":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    print("Login successful! Welcome,", username)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else: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    print("Wrong password!")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else: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print("Username cannot be empty.")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846320"/>
            <a:ext cx="10881360" cy="1014984"/>
          </a:xfrm>
          <a:prstGeom prst="rect">
            <a:avLst/>
          </a:prstGeom>
          <a:solidFill>
            <a:srgbClr val="0A0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1947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5FADA0"/>
                </a:solidFill>
                <a:latin typeface="Consolas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93208"/>
            <a:ext cx="1033272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Username: rafi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Password: 1234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Login successful! Welcome, rafi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07024"/>
            <a:ext cx="10881360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FFD97A"/>
                </a:solidFill>
                <a:latin typeface="Nirmala UI"/>
              </a:rPr>
              <a:t>বাইরের if টা Truthy/Falsy, ভেতরের if টা সাধারণ তুলনা — একই প্রোগ্রামে দুটোই।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উদাহরণ ০৭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একই প্রোগ্রামের তিনটে পথ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solidFill>
            <a:srgbClr val="17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8B90B5"/>
                </a:solidFill>
                <a:latin typeface="Consolas"/>
              </a:rPr>
              <a:t>07_login.py - all three paths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881360" cy="1475994"/>
          </a:xfrm>
          <a:prstGeom prst="rect">
            <a:avLst/>
          </a:prstGeom>
          <a:solidFill>
            <a:srgbClr val="0E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21992"/>
            <a:ext cx="10332720" cy="12382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E7E9F7"/>
                </a:solidFill>
                <a:latin typeface="Consolas"/>
              </a:rPr>
              <a:t>username = ""  (empty)  ==&gt;  FALSY</a:t>
            </a:r>
          </a:p>
          <a:p>
            <a:pPr algn="l" marL="0" indent="0">
              <a:buNone/>
            </a:pPr>
            <a:r>
              <a:rPr sz="1300" b="0" i="0">
                <a:solidFill>
                  <a:srgbClr val="E7E9F7"/>
                </a:solidFill>
                <a:latin typeface="Consolas"/>
              </a:rPr>
              <a:t>        ==&gt;  "Username cannot be empty."   (password is never asked)</a:t>
            </a:r>
          </a:p>
          <a:p>
            <a:pPr algn="l" marL="0" indent="0">
              <a:buNone/>
            </a:pPr>
            <a:r>
              <a:rPr sz="1300" b="0" i="0">
                <a:solidFill>
                  <a:srgbClr val="E7E9F7"/>
                </a:solidFill>
                <a:latin typeface="Consolas"/>
              </a:rPr>
              <a:t/>
            </a:r>
          </a:p>
          <a:p>
            <a:pPr algn="l" marL="0" indent="0">
              <a:buNone/>
            </a:pPr>
            <a:r>
              <a:rPr sz="1300" b="0" i="0">
                <a:solidFill>
                  <a:srgbClr val="E7E9F7"/>
                </a:solidFill>
                <a:latin typeface="Consolas"/>
              </a:rPr>
              <a:t>username = "rafi"       ==&gt;  TRUTHY</a:t>
            </a:r>
          </a:p>
          <a:p>
            <a:pPr algn="l" marL="0" indent="0">
              <a:buNone/>
            </a:pPr>
            <a:r>
              <a:rPr sz="1300" b="0" i="0">
                <a:solidFill>
                  <a:srgbClr val="E7E9F7"/>
                </a:solidFill>
                <a:latin typeface="Consolas"/>
              </a:rPr>
              <a:t>        +-- password == "1234"  ==&gt;  "Login successful! Welcome, rafi"</a:t>
            </a:r>
          </a:p>
          <a:p>
            <a:pPr algn="l" marL="0" indent="0">
              <a:buNone/>
            </a:pPr>
            <a:r>
              <a:rPr sz="1300" b="0" i="0">
                <a:solidFill>
                  <a:srgbClr val="E7E9F7"/>
                </a:solidFill>
                <a:latin typeface="Consolas"/>
              </a:rPr>
              <a:t>        +-- password != "1234"  ==&gt;  "Wrong password!"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79114"/>
            <a:ext cx="10881360" cy="952500"/>
          </a:xfrm>
          <a:prstGeom prst="rect">
            <a:avLst/>
          </a:prstGeom>
          <a:solidFill>
            <a:srgbClr val="0A0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226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F4B942"/>
                </a:solidFill>
                <a:latin typeface="Consolas"/>
              </a:rPr>
              <a:t>THINK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26002"/>
            <a:ext cx="10332720" cy="5684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নাম না লিখলে পাসওয়ার্ড চাওয়ারই দরকার নেই — তাই পাসওয়ার্ডের লাইনটা বাইরের if এর ভেতরে বসেছে।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ক্রমটা ভাবুন: কোন প্রশ্নটা আগে, কোনটা পরে — এটাই প্রোগ্রামের নকশা।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ডিবাগিং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11064240" cy="2651760"/>
          </a:xfrm>
          <a:prstGeom prst="rect">
            <a:avLst/>
          </a:prstGeom>
          <a:solidFill>
            <a:srgbClr val="1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3000" b="1" i="0">
                <a:solidFill>
                  <a:srgbClr val="F4B942"/>
                </a:solidFill>
                <a:latin typeface="Nirmala UI"/>
              </a:rPr>
              <a:t>Error মানে ব্যর্থতা নয় — Error হলো ঠিকানা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buNone/>
            </a:pPr>
            <a:r>
              <a:rPr sz="1700" b="0" i="0">
                <a:solidFill>
                  <a:srgbClr val="E7E9F7"/>
                </a:solidFill>
                <a:latin typeface="Nirmala UI"/>
              </a:rPr>
              <a:t>Python কখনো শুধু "ভুল হয়েছে" বলে না — কোন ফাইলে, কত নম্বর লাইনে, কী ভুল, সব বলে দেয়।</a:t>
            </a:r>
          </a:p>
          <a:p>
            <a:pPr algn="ctr" marL="0" indent="0">
              <a:buNone/>
            </a:pPr>
            <a:r>
              <a:rPr sz="1700" b="0" i="0">
                <a:solidFill>
                  <a:srgbClr val="E7E9F7"/>
                </a:solidFill>
                <a:latin typeface="Nirmala UI"/>
              </a:rPr>
              <a:t>লাল লেখা দেখে ভয় পেয়ে বন্ধ করে দেওয়াটাই একমাত্র আসল ভুল।</a:t>
            </a:r>
          </a:p>
          <a:p>
            <a:pPr algn="ctr" marL="0" indent="0">
              <a:buNone/>
            </a:pPr>
            <a:r>
              <a:rPr sz="1700" b="0" i="0">
                <a:solidFill>
                  <a:srgbClr val="E7E9F7"/>
                </a:solidFill>
                <a:latin typeface="Nirmala UI"/>
              </a:rPr>
              <a:t>নিয়ম: লাল লেখার সবার নিচের লাইনটা আগে পড়ুন। সেখানেই ভুলের নাম আর কারণ লেখা থাকে।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উদাহরণ ০৮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সন্দেহের জায়গায় print() বসান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solidFill>
            <a:srgbClr val="17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8B90B5"/>
                </a:solidFill>
                <a:latin typeface="Consolas"/>
              </a:rPr>
              <a:t>examples/08_debug_print.py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881360" cy="2496312"/>
          </a:xfrm>
          <a:prstGeom prst="rect">
            <a:avLst/>
          </a:prstGeom>
          <a:solidFill>
            <a:srgbClr val="0E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2313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number = input("Type a number: 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print("DEBUG 1:", number, type(number))       # what came from input()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number = int(number)                          # turn the text into a number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print("DEBUG 2:", number, type(number))       # what it became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/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if number == 10: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print("Yes, it is 10!")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else: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print("No, it is not 10.")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599432"/>
            <a:ext cx="10881360" cy="1261872"/>
          </a:xfrm>
          <a:prstGeom prst="rect">
            <a:avLst/>
          </a:prstGeom>
          <a:solidFill>
            <a:srgbClr val="0A0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72584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5FADA0"/>
                </a:solidFill>
                <a:latin typeface="Consolas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10332720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Type a number: 10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DEBUG 1: 10 &lt;class 'str'&gt;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DEBUG 2: 10 &lt;class 'int'&gt;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Yes, it is 10!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07024"/>
            <a:ext cx="10881360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FFD97A"/>
                </a:solidFill>
                <a:latin typeface="Nirmala UI"/>
              </a:rPr>
              <a:t>সংখ্যাটা দুবারই 10 দেখাচ্ছে। কিন্তু পাশের কথাটা আলাদা — str মানে লেখা, int মানে সংখ্যা।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কৌশল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ডিবাগ করার ৩টি ধাপ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১. সন্দেহজনক লাইনের ঠিক আগে বসান — print("DEBUG:", variable, type(variable))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২. স্ক্রিনে যা দেখলেন, নিজের প্রত্যাশার সাথে মেলান — বেশিরভাগ ভুল এখানেই ধরা পড়ে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৩. ভুল ঠিক হলে DEBUG লাইনগুলো মুছে দিন — ওগুলো আপনার জন্য, ব্যবহারকারীর জন্য নয়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type() দেখাটা সবচেয়ে জরুরি — '10' আর 10 স্ক্রিনে হুবহু একই দেখায়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সাধারণ ভুল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শর্তের কোডে নতুনরা যে ৪টি ভুল করে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১. Indentation — if এর পরের লাইনটা ভেতরে ঢোকানো হয়নি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২. = আর == গুলিয়ে ফেলা — একটা মান বসায়, আরেকটা মান মেলায়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৩. ছোট-বড় হাতের অক্ষর — "Yes" আর "yes" Python এর কাছে আলাদা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৪. Type mismatch — input() লেখা দেয়, তুলনার আগে int()/float() করতে হয়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ভুল 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Indentation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Python এ ব্লক বোঝানোর একমাত্র উপায় হলো স্পেস — কোনো { } নেই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if লাইনের পরের লাইনটা ভেতরে না ঢোকালে কোড একদমই চলবে না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Tab আর Space মিশিয়ে ফেললেও একই সমস্যা — যেকোনো একটা ব্যবহার করুন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11064240" cy="1645920"/>
          </a:xfrm>
          <a:prstGeom prst="rect">
            <a:avLst/>
          </a:prstGeom>
          <a:solidFill>
            <a:srgbClr val="2A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E2777F"/>
                </a:solidFill>
                <a:latin typeface="Consolas"/>
              </a:rPr>
              <a:t>IndentationError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600" b="0" i="0">
                <a:solidFill>
                  <a:srgbClr val="F6D4D6"/>
                </a:solidFill>
                <a:latin typeface="Nirmala UI"/>
              </a:rPr>
              <a:t>if age &gt;= 18:  এর পরের লাইনটা ভেতরে না ঢোকালে Python বলে —</a:t>
            </a:r>
          </a:p>
          <a:p>
            <a:pPr algn="l" marL="0" indent="0">
              <a:buNone/>
            </a:pPr>
            <a:r>
              <a:rPr sz="1600" b="0" i="0">
                <a:solidFill>
                  <a:srgbClr val="F6D4D6"/>
                </a:solidFill>
                <a:latin typeface="Nirmala UI"/>
              </a:rPr>
              <a:t>IndentationError: expected an indented block after 'if' statement on line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ভুল 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= না-কি 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=  (একটা চিহ্ন) মানে: ডান পাশের মানটা বাম পাশে বসান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== (দুটো চিহ্ন) মানে: দুই পাশ সমান কি না দেখুন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if এর ভেতরে সবসময় == লাগবে, কখনোই = নয়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11064240" cy="1645920"/>
          </a:xfrm>
          <a:prstGeom prst="rect">
            <a:avLst/>
          </a:prstGeom>
          <a:solidFill>
            <a:srgbClr val="2A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E2777F"/>
                </a:solidFill>
                <a:latin typeface="Consolas"/>
              </a:rPr>
              <a:t>SyntaxError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600" b="0" i="0">
                <a:solidFill>
                  <a:srgbClr val="F6D4D6"/>
                </a:solidFill>
                <a:latin typeface="Nirmala UI"/>
              </a:rPr>
              <a:t>if x = 5:  লিখলে Python নিজেই ভুলটা ধরিয়ে দেয় —</a:t>
            </a:r>
          </a:p>
          <a:p>
            <a:pPr algn="l" marL="0" indent="0">
              <a:buNone/>
            </a:pPr>
            <a:r>
              <a:rPr sz="1600" b="0" i="0">
                <a:solidFill>
                  <a:srgbClr val="F6D4D6"/>
                </a:solidFill>
                <a:latin typeface="Nirmala UI"/>
              </a:rPr>
              <a:t>SyntaxError: invalid syntax. Maybe you meant '==' or ':=' instead of '='?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ভুল 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ছোট হাতের আর বড় হাতের অক্ষর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"Yes" আর "yes" — Python এর কাছে এই দুটো আলাদা জিনিস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ব্যবহারকারী কীভাবে টাইপ করবে আপনি সেটা ঠিক করে দিতে পারেন না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সমাধান: তুলনার ঠিক আগে .lower() দিয়ে সবটা ছোট হাতের করে নিন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11064240" cy="1645920"/>
          </a:xfrm>
          <a:prstGeom prst="rect">
            <a:avLst/>
          </a:prstGeom>
          <a:solidFill>
            <a:srgbClr val="2A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E2777F"/>
                </a:solidFill>
                <a:latin typeface="Consolas"/>
              </a:rPr>
              <a:t>SILENT 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600" b="0" i="0">
                <a:solidFill>
                  <a:srgbClr val="F6D4D6"/>
                </a:solidFill>
                <a:latin typeface="Nirmala UI"/>
              </a:rPr>
              <a:t>এটা error দেয় না — প্রোগ্রাম দিব্যি চলে, শুধু ভুল উত্তরটা দেখায়।</a:t>
            </a:r>
          </a:p>
          <a:p>
            <a:pPr algn="l" marL="0" indent="0">
              <a:buNone/>
            </a:pPr>
            <a:r>
              <a:rPr sz="1600" b="0" i="0">
                <a:solidFill>
                  <a:srgbClr val="F6D4D6"/>
                </a:solidFill>
                <a:latin typeface="Nirmala UI"/>
              </a:rPr>
              <a:t>"Yes" == "yes"  →  False              "Yes".lower() == "yes"  → 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উদাহরণ ০৯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একই প্রশ্নের দুটো পরীক্ষা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solidFill>
            <a:srgbClr val="17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8B90B5"/>
                </a:solidFill>
                <a:latin typeface="Consolas"/>
              </a:rPr>
              <a:t>examples/09_case_lower.py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881360" cy="2990088"/>
          </a:xfrm>
          <a:prstGeom prst="rect">
            <a:avLst/>
          </a:prstGeom>
          <a:solidFill>
            <a:srgbClr val="0E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2807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answer = input("Do you like ice cream? (Yes/No): 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/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if answer == "yes":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print("Test 1 (no .lower()): Yummy!")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else: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print("Test 1 (no .lower()): Oh, okay.")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/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if answer.lower() == "yes":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print("Test 2 (with .lower()): Yummy!")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else: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print("Test 2 (with .lower()): Oh, okay.")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093208"/>
            <a:ext cx="10881360" cy="1014984"/>
          </a:xfrm>
          <a:prstGeom prst="rect">
            <a:avLst/>
          </a:prstGeom>
          <a:solidFill>
            <a:srgbClr val="0A0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5FADA0"/>
                </a:solidFill>
                <a:latin typeface="Consolas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0096"/>
            <a:ext cx="1033272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Do you like ice cream? (Yes/No): Yes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Test 1 (no .lower()): Oh, okay.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Test 2 (with .lower()): Yummy!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53912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FFD97A"/>
                </a:solidFill>
                <a:latin typeface="Nirmala UI"/>
              </a:rPr>
              <a:t>Test 1 ভুল উত্তর দিল, অথচ কোনো error এলো না। এই ভুল Python ধরিয়ে দেয় না — টেস্ট করে ধরতে হয়।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ক্লাসের কাজ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এখন আপনার পালা — দুটো লেন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8" y="1920240"/>
            <a:ext cx="5120640" cy="3931920"/>
          </a:xfrm>
          <a:prstGeom prst="rect">
            <a:avLst/>
          </a:prstGeom>
          <a:solidFill>
            <a:srgbClr val="1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0928" y="214884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900" b="1" i="0">
                <a:solidFill>
                  <a:srgbClr val="F4B942"/>
                </a:solidFill>
                <a:latin typeface="Nirmala UI"/>
              </a:rPr>
              <a:t>লেন ক — সবার জন্য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928" y="283464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বয়স আর দেশের নাম (country) ইনপুট নিন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দেশ "Bangladesh" হলে ভোটের বয়স ১৮ ধরে চেক করুন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অন্য দেশ হলে আলাদা একটা মেসেজ দেখান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and নয়, Nested if দিয়ে লিখুন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4448" y="1920240"/>
            <a:ext cx="5120640" cy="3931920"/>
          </a:xfrm>
          <a:prstGeom prst="rect">
            <a:avLst/>
          </a:prstGeom>
          <a:solidFill>
            <a:srgbClr val="1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8" y="214884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900" b="1" i="0">
                <a:solidFill>
                  <a:srgbClr val="5FADA0"/>
                </a:solidFill>
                <a:latin typeface="Nirmala UI"/>
              </a:rPr>
              <a:t>লেন খ — যাঁরা একটু এগিয়ে আছেন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8" y="283464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দেশের নামটা .lower() দিয়ে মেলান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দেশের নাম ফাঁকা থাকলে Truthy/Falsy দিয়ে ধরুন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ইচ্ছা করে indentation ভেঙে error টা পড়ুন</a:t>
            </a:r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sz="1500" b="0" i="0">
                <a:solidFill>
                  <a:srgbClr val="E7E9F7"/>
                </a:solidFill>
                <a:latin typeface="Nirmala UI"/>
              </a:rPr>
              <a:t>প্রতিটা শাখা অন্তত একবার চালিয়ে টেস্ট করুন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1400" b="0" i="0">
                <a:solidFill>
                  <a:srgbClr val="D9D3C2"/>
                </a:solidFill>
                <a:latin typeface="Nirmala UI"/>
              </a:rPr>
              <a:t>আটকে গেলে চ্যাটে লিখুন। পুরো কোড নয় — প্রথমে error message টা পাঠান।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বাড়ির কাজ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আজকের হোমওয়ার্ক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examples/ ফোল্ডারের নয়টা ফাইলই চালান — নিচের "Try it yourself" অংশটাও করুন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নিজের Login প্রোগ্রাম লিখুন: নাম ফাঁকা হলে "Username দিতে হবে" (Truthy/Falsy)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নাম থাকলে password "1234" মিললে "Login Successful" (Nested if)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ইচ্ছা করে দুটো ভুল করুন — indentation ভাঙুন, == কে = করুন। error দুটো লিখে আনুন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নিজের কোডে একবার print("DEBUG:", x, type(x)) বসিয়ে ভেতরে কী আছে দেখে নিন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নিজেকে যাচাই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পাঁচটা প্রশ্ন — উত্তর দিতে পারেন?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১. বাইরের if এর শর্ত মিথ্যা হলে ভেতরের if টার কী হয়?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২. if name: — এই লাইনটার মানে বাংলায় কী?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৩. bool("0") এর উত্তর True না False? কেন?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৪. = আর == এর পার্থক্য এক লাইনে বলুন।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৫. "নীরব ভুল" মানে কী? একটা উদাহরণ দিন।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সারাংশ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আজকের ক্লাসের সারাংশ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Nested if — বাইরেরটা মিথ্যা হলে ভেতরেরটা চলেই না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আলাদা মেসেজ দরকার হলে Nested if, একটামাত্র সিদ্ধান্ত হলে and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Falsy: 0, 0.0, "", False, None — বাকি প্রায় সবই Truthy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if name: এর মানে — name খালি নয় তো?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Error message শত্রু নয়, বন্ধু — নিচের লাইনটা আগে পড়ুন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1005840"/>
            <a:ext cx="1005840" cy="1005840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06440" y="1234440"/>
            <a:ext cx="548640" cy="548640"/>
          </a:xfrm>
          <a:prstGeom prst="ellipse">
            <a:avLst/>
          </a:prstGeom>
          <a:solidFill>
            <a:srgbClr val="FFD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651760"/>
            <a:ext cx="121916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3400" b="1" i="0">
                <a:solidFill>
                  <a:srgbClr val="F4B942"/>
                </a:solidFill>
                <a:latin typeface="Nirmala UI"/>
              </a:rPr>
              <a:t>পরের ক্লাস: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9966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1800" b="0" i="0">
                <a:solidFill>
                  <a:srgbClr val="B9B3A2"/>
                </a:solidFill>
                <a:latin typeface="Nirmala UI"/>
              </a:rPr>
              <a:t>Grade Evaluator আর Age Checker — আজ পর্যন্ত শেখা সব টুকরো জুড়ে সত্যিকারের ছোট প্রোগ্রাম বানাব।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1500" b="0" i="1">
                <a:solidFill>
                  <a:srgbClr val="5FADA0"/>
                </a:solidFill>
                <a:latin typeface="Nirmala UI"/>
              </a:rPr>
              <a:t>"First, solve the problem. Then, write the code." — John Johnson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