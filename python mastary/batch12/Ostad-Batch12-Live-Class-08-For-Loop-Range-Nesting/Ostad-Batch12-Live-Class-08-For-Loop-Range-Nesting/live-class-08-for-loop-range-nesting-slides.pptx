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1188720"/>
            <a:ext cx="1005840" cy="100584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1417320"/>
            <a:ext cx="548640" cy="548640"/>
          </a:xfrm>
          <a:prstGeom prst="ellipse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4600" b="1" i="0">
                <a:solidFill>
                  <a:srgbClr val="FFF8E7"/>
                </a:solidFill>
                <a:latin typeface="Nirmala UI"/>
              </a:rPr>
              <a:t>MASTERING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2600" b="1" i="0">
                <a:solidFill>
                  <a:srgbClr val="F4B942"/>
                </a:solidFill>
                <a:latin typeface="Nirmala UI"/>
              </a:rPr>
              <a:t>From Zero to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800" b="0" i="0">
                <a:solidFill>
                  <a:srgbClr val="D9D3C2"/>
                </a:solidFill>
                <a:latin typeface="Nirmala UI"/>
              </a:rPr>
              <a:t>Live Class 08  •  Module 3, Class 2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600" b="0" i="0">
                <a:solidFill>
                  <a:srgbClr val="5FADA0"/>
                </a:solidFill>
                <a:latin typeface="Nirmala UI"/>
              </a:rPr>
              <a:t>For Loop, range() &amp; Loop Nesting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গত ক্লাসের রিক্যাপ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Live Class 07-এ যা যা শিখেছি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while loop-এর ৪টি প্রধান অংশ — Initialization, Condition, Body, Update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Counters — increment, accumulator, decrement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Infinite Loops — accidental (bug) বনাম controlled (while True + break)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আজকের এজেন্ডা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আজকে আমরা কী কী শিখব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for loop — Python-এর for-each loop (list, string-এর উপর iterate)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range() function — start, stop, step, exclusive stop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Nested loop — loop-এর ভিতরে loop, multiplication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শুরুর কথা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for মানেই কি counter loop?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C বা Java শিখে থাকলে for মানে “i = 0; i &lt; n; i++” ভাবতে পারেন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কিন্তু Python-এর for আসলে একটি for-each loop — সরাসরি প্রতিটি item দেয়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আজ দেখব for, range(), এবং একটির ভিতরে আরেকটি loop (nesting) কীভাবে কাজ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কনসেপ্ট 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The for Loop (for-each)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for loop একটি iterable-এর প্রতিটি item-এর উপর দিয়ে একে একে iterate করে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list, string — যেকোনো iterable-এর উপর কাজ করে; index দরকার হলে enumerate()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Delivery rider উদাহরণ — Dhaka, Chattogram, Khulna, Sylhet — প্রতিটি শহরের জন্য একবার কাজ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কোড উদাহরণ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for-each: list, string, enumerate()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examples/example_01_for_loop_basics.py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755648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fruits = ["mango", "jackfruit", "litchi"]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fruit in fruits: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print(f"Fruit: {fruit}")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index, fruit in enumerate(fruits, start=1):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print(f"{index}. {fruit}")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58768"/>
            <a:ext cx="10881360" cy="1755648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05656"/>
            <a:ext cx="10332720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Fruit: mango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Fruit: jackfruit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Fruit: litchi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1. mango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2. jackfruit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3. litchi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কনসেপ্ট 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The range()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range(stop) → 0, 1, ..., stop-1  |  range(start, stop) → start, ..., stop-1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range(start, stop, step) → step অনুযায়ী এগোয়; step negative হলে নিচের দিকে নামে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stop সবসময় EXCLUSIVE — classic off-by-one trap মনে রাখতে হবে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কোড উদাহরণ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range()-এর সব রূপ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examples/example_02_range_function.py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2249424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06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i in range(5):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print(i, end="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i in range(0, 11, 2):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print(i, end=" 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/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i in range(10, 0, -2):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print(i, end=" 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52544"/>
            <a:ext cx="10881360" cy="1261872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10332720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0 1 2 3 4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2 3 4 5 6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0 2 4 6 8 10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10 8 6 4 2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05856"/>
            <a:ext cx="1088136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FFD97A"/>
                </a:solidFill>
                <a:latin typeface="Nirmala UI"/>
              </a:rPr>
              <a:t>stop সবসময় exclusive — range(1, 5) দেয় 1,2,3,4; পাঁচ পর্যন্ত পেতে range(1, 6) লাগবে।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কনসেপ্ট 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Nested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একটি loop আরেকটি loop-এর body-র ভিতরে — outer-এর প্রতি ১ iteration-এ inner সম্পূর্ণ একবার চলে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মোট iteration = outer count × inner count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স্কুলের ঘড়ি — ঘণ্টার কাঁটা (outer) একবার নড়লে মিনিটের কাঁটা (inner) পুরো ৬০ বার ঘোরে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কোড উদাহরণ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Multiplication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17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8B90B5"/>
                </a:solidFill>
                <a:latin typeface="Consolas"/>
              </a:rPr>
              <a:t>examples/example_03_nested_loops.py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508760"/>
          </a:xfrm>
          <a:prstGeom prst="rect">
            <a:avLst/>
          </a:prstGeom>
          <a:solidFill>
            <a:srgbClr val="0E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for row in range(1, 6):          # outer: chooses the row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for col in range(1, 6):      # inner: fills the columns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product = row * col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    print(f"{product:4}", end="")</a:t>
            </a:r>
          </a:p>
          <a:p>
            <a:pPr algn="l" marL="0" indent="0">
              <a:buNone/>
            </a:pPr>
            <a:r>
              <a:rPr sz="1500" b="0" i="0">
                <a:solidFill>
                  <a:srgbClr val="E7E9F7"/>
                </a:solidFill>
                <a:latin typeface="Consolas"/>
              </a:rPr>
              <a:t>    print()                      # end the 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10881360" cy="1508760"/>
          </a:xfrm>
          <a:prstGeom prst="rect">
            <a:avLst/>
          </a:prstGeom>
          <a:solidFill>
            <a:srgbClr val="0A0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5FADA0"/>
                </a:solidFill>
                <a:latin typeface="Consola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   1   2   3   4   5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   2   4   6   8  10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   3   6   9  12  15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   4   8  12  16  20</a:t>
            </a:r>
          </a:p>
          <a:p>
            <a:pPr algn="l" marL="0" indent="0">
              <a:buNone/>
            </a:pPr>
            <a:r>
              <a:rPr sz="1400" b="0" i="0">
                <a:solidFill>
                  <a:srgbClr val="C9E8D6"/>
                </a:solidFill>
                <a:latin typeface="Consolas"/>
              </a:rPr>
              <a:t>   5  10  15  20  25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সাবধান থেকে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off-by-one — range(1, 5) থেকে ৫ পর্যন্ত পাওয়ার আশা করা (আসলে ৪ পর্যন্ত)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Inner loop শেষে print() (newline) দিতে ভুলে যাওয়া — সব output এক লাইনে মিশে যায়</a:t>
            </a:r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sz="1800" b="0" i="0">
                <a:solidFill>
                  <a:srgbClr val="E7E9F7"/>
                </a:solidFill>
                <a:latin typeface="Nirmala UI"/>
              </a:rPr>
              <a:t>Outer ও inner loop-এ একই variable নাম ব্যবহার করা — পরস্পরকে overwrite করে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solidFill>
            <a:srgbClr val="2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E2777F"/>
                </a:solidFill>
                <a:latin typeface="Consolas"/>
              </a:rPr>
              <a:t>মনে রাখবেন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buNone/>
            </a:pPr>
            <a:r>
              <a:rPr sz="1600" b="0" i="0">
                <a:solidFill>
                  <a:srgbClr val="F6D4D6"/>
                </a:solidFill>
                <a:latin typeface="Nirmala UI"/>
              </a:rPr>
              <a:t>range()-এর stop সবসময় exclusive — off-by-one এড়াতে এটি সবসময় মাথায় রাখুন।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বাস্তব উদাহরণ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মুদি দোকানের বিল ও Result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মুদি দোকানের বিল — ঝুড়ির প্রতিটি product for loop দিয়ে iterate করে দাম × পরিমাণ যোগ করা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Result Sheet — প্রতিটি ছাত্রের (outer loop) প্রতিটি বিষয়ের (inner loop) নম্বর যোগ করা — nested loop-এর বাস্তব ব্যবহার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প্র্যাকটিস টাস্ক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লাইভ সেশনে যা করবে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Even Numbers — for loop ও range() দিয়ে ১-৩০-এর মধ্যে সব জোড় সংখ্যা print করা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String Reverse Print — একটি string-এর প্রতিটি character উল্টো ক্রমে print করা (negative step)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Nested Loop Grid — 3x4 grid-এ প্রতিটি ঘরে (row, col) জোড়া দেখানো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বাড়ির কাজ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আজকের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প্রতিটি example নিজে হাতে টাইপ করে run করুন এবং output মিলিয়ে দেখুন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range(0, 11, 2)-কে range(0, 10, 2)-এ বদলে output-এর পার্থক্য নোট করুন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Multiplication table-কে 10x10-এ প্রসারিত করুন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256032" cy="25603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D97A"/>
                </a:solidFill>
                <a:latin typeface="Consolas"/>
              </a:rPr>
              <a:t>সারমর্ম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FFF8E7"/>
                </a:solidFill>
                <a:latin typeface="Nirmala UI"/>
              </a:rPr>
              <a:t>আজকের ক্লাসের সারমর্ম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for loop Python-এ for-each — iterable-এর প্রতিটি item সরাসরি দেয়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range(start, stop, step) — stop সবসময় exclusive, step negative হতে পারে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Nested loop — loop-এর ভিতরে loop; মোট iteration = outer × inner</a:t>
            </a:r>
          </a:p>
          <a:p>
            <a:pPr algn="l" marL="342900" indent="-342900">
              <a:lnSpc>
                <a:spcPts val="3200"/>
              </a:lnSpc>
              <a:buSzPct val="100000"/>
              <a:buChar char="•"/>
            </a:pPr>
            <a:r>
              <a:rPr sz="2000" b="0" i="0">
                <a:solidFill>
                  <a:srgbClr val="E7E9F7"/>
                </a:solidFill>
                <a:latin typeface="Nirmala UI"/>
              </a:rPr>
              <a:t>Live Class 07 + 08 মিলিয়ে পরের ক্লাসের mini project তৈরি হবে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1005840"/>
            <a:ext cx="1005840" cy="100584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1234440"/>
            <a:ext cx="548640" cy="548640"/>
          </a:xfrm>
          <a:prstGeom prst="ellipse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3400" b="1" i="0">
                <a:solidFill>
                  <a:srgbClr val="F4B942"/>
                </a:solidFill>
                <a:latin typeface="Nirmala UI"/>
              </a:rPr>
              <a:t>পরের ক্লাস: Mini Project — Number Guessing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966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800" b="0" i="0">
                <a:solidFill>
                  <a:srgbClr val="B9B3A2"/>
                </a:solidFill>
                <a:latin typeface="Nirmala UI"/>
              </a:rPr>
              <a:t>পরের (এবং Module 3-এর শেষ) ক্লাসে while, counters, for, range(), break ও loop-else একসাথে জুড়ে একটি সম্পূর্ণ গেম বানানো হবে।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buNone/>
            </a:pPr>
            <a:r>
              <a:rPr sz="1500" b="0" i="1">
                <a:solidFill>
                  <a:srgbClr val="5FADA0"/>
                </a:solidFill>
                <a:latin typeface="Nirmala UI"/>
              </a:rPr>
              <a:t>"একটি for loop মানে item নিয়ে কাজ করা, একটি range() মানে সংখ্যা নিয়ে কাজ করা — দুটো একসাথে অনেক কিছু সম্ভব করে তোলে।"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Mastering Python : From Zero to Hero  •  Live Class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marL="0" indent="0">
              <a:buNone/>
            </a:pPr>
            <a:r>
              <a:rPr sz="1000" b="0" i="0">
                <a:solidFill>
                  <a:srgbClr val="8B90B5"/>
                </a:solidFill>
                <a:latin typeface="Nirmala U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